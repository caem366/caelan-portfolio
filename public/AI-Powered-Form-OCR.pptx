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8"/>
  </p:notesMasterIdLst>
  <p:handoutMasterIdLst>
    <p:handoutMasterId r:id="rId19"/>
  </p:handoutMasterIdLst>
  <p:sldIdLst>
    <p:sldId id="312" r:id="rId5"/>
    <p:sldId id="282" r:id="rId6"/>
    <p:sldId id="315" r:id="rId7"/>
    <p:sldId id="317" r:id="rId8"/>
    <p:sldId id="319" r:id="rId9"/>
    <p:sldId id="321" r:id="rId10"/>
    <p:sldId id="324" r:id="rId11"/>
    <p:sldId id="325" r:id="rId12"/>
    <p:sldId id="327" r:id="rId13"/>
    <p:sldId id="326" r:id="rId14"/>
    <p:sldId id="328" r:id="rId15"/>
    <p:sldId id="329" r:id="rId16"/>
    <p:sldId id="297" r:id="rId17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3" autoAdjust="0"/>
    <p:restoredTop sz="95388" autoAdjust="0"/>
  </p:normalViewPr>
  <p:slideViewPr>
    <p:cSldViewPr snapToGrid="0" snapToObjects="1">
      <p:cViewPr>
        <p:scale>
          <a:sx n="67" d="100"/>
          <a:sy n="67" d="100"/>
        </p:scale>
        <p:origin x="110" y="278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7422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9146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01387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76683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22B3E9-CC0F-487D-6A80-E2176E9721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67042F-51B6-B7D0-38CC-A21404DEAF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FA2DB7-C25E-B77C-5FCB-7CA563DF44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lang="en-US" dirty="0"/>
              <a:t>When you upload an image of an ID document, the Azure Computer Vision API first needs </a:t>
            </a:r>
            <a:r>
              <a:rPr lang="en-US" b="0" dirty="0"/>
              <a:t>to analyze </a:t>
            </a:r>
            <a:r>
              <a:rPr lang="en-US" dirty="0"/>
              <a:t>the image, detect text regions, and recognize individual characters.</a:t>
            </a:r>
          </a:p>
          <a:p>
            <a:r>
              <a:rPr lang="en-US" dirty="0"/>
              <a:t>This step involves deep learning models that take time to process.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52880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878BEC-2AAA-EF8B-9B1E-E8AB73224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CD4CD4-6849-5E88-04B6-E53D376340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8A1D31-4D96-16DC-AB96-CB7E459AAE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lang="en-US" dirty="0"/>
              <a:t>When you upload an image of an ID document, the Azure Computer Vision API first needs </a:t>
            </a:r>
            <a:r>
              <a:rPr lang="en-US" b="0" dirty="0"/>
              <a:t>to analyze </a:t>
            </a:r>
            <a:r>
              <a:rPr lang="en-US" dirty="0"/>
              <a:t>the image, detect text regions, and recognize individual characters.</a:t>
            </a:r>
          </a:p>
          <a:p>
            <a:r>
              <a:rPr lang="en-US" dirty="0"/>
              <a:t>This step involves deep learning models that take time to process.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66508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484256-98F5-2CD4-F1D8-A698B35C2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8E22B2-1E11-EFA8-D005-B0B79A9F9D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45E8E4-429B-926E-A493-5B2CEF8E5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lang="en-US" dirty="0"/>
              <a:t>When you upload an image of an ID document, the Azure Computer Vision API first needs </a:t>
            </a:r>
            <a:r>
              <a:rPr lang="en-US" b="0" dirty="0"/>
              <a:t>to analyze </a:t>
            </a:r>
            <a:r>
              <a:rPr lang="en-US" dirty="0"/>
              <a:t>the image, detect text regions, and recognize individual characters.</a:t>
            </a:r>
          </a:p>
          <a:p>
            <a:r>
              <a:rPr lang="en-US" dirty="0"/>
              <a:t>This step involves deep learning models that take time to process.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90417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CE3F22-7125-A09E-CB3A-A8FEB9BC2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F26C7A-179C-1D54-CA3B-15FFB4FECF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C0B3E1-2E46-51CB-12B5-50FB6D792D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lang="en-US" dirty="0"/>
              <a:t>When you upload an image of an ID document, the Azure Computer Vision API first needs </a:t>
            </a:r>
            <a:r>
              <a:rPr lang="en-US" b="0" dirty="0"/>
              <a:t>to analyze </a:t>
            </a:r>
            <a:r>
              <a:rPr lang="en-US" dirty="0"/>
              <a:t>the image, detect text regions, and recognize individual characters.</a:t>
            </a:r>
          </a:p>
          <a:p>
            <a:r>
              <a:rPr lang="en-US" dirty="0"/>
              <a:t>This step involves deep learning models that take time to process.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05245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758C4C-F261-99B2-EDD6-498414A70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5D923E-C28A-E256-E59B-5A1EC2FE98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E32DC9-4B86-A031-AAC4-B462739D4C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4275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BF044B-9C65-33DC-43D5-B17A6D90D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2D7E4A-7E59-DE74-91FB-5D7967FAE6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47085C-990D-82FA-32D9-940AB5C95E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400655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47272" y="-159360"/>
            <a:ext cx="7697453" cy="3831221"/>
          </a:xfrm>
        </p:spPr>
        <p:txBody>
          <a:bodyPr anchor="ctr"/>
          <a:lstStyle/>
          <a:p>
            <a:r>
              <a:rPr lang="en-US" dirty="0"/>
              <a:t>AI-Powered Form Automation Using OCR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A2787-86A5-4F0E-3467-AA4B575F878F}"/>
              </a:ext>
            </a:extLst>
          </p:cNvPr>
          <p:cNvSpPr txBox="1"/>
          <p:nvPr/>
        </p:nvSpPr>
        <p:spPr>
          <a:xfrm>
            <a:off x="4463141" y="4098471"/>
            <a:ext cx="3265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6"/>
                </a:solidFill>
                <a:latin typeface="Abadi" panose="020F0502020204030204" pitchFamily="34" charset="0"/>
              </a:rPr>
              <a:t>Caelan Mason</a:t>
            </a:r>
            <a:endParaRPr lang="en-CA" dirty="0">
              <a:solidFill>
                <a:schemeClr val="accent6"/>
              </a:solidFill>
              <a:latin typeface="Abad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565" y="1057274"/>
            <a:ext cx="7965461" cy="994164"/>
          </a:xfrm>
        </p:spPr>
        <p:txBody>
          <a:bodyPr/>
          <a:lstStyle/>
          <a:p>
            <a:r>
              <a:rPr lang="en-US" dirty="0"/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11C33-898C-4414-4665-5136EB6FC1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60565" y="2303029"/>
            <a:ext cx="7965460" cy="3497698"/>
          </a:xfrm>
        </p:spPr>
        <p:txBody>
          <a:bodyPr/>
          <a:lstStyle/>
          <a:p>
            <a:r>
              <a:rPr lang="en-US" dirty="0"/>
              <a:t>Develop an web app with a form that extracts user details from an uploaded ID document or image and auto-fills based on an AI tool.</a:t>
            </a:r>
          </a:p>
          <a:p>
            <a:endParaRPr lang="en-US" dirty="0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94FF72B7-0438-3641-5939-75128934B0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A34A6-22BC-27A4-2C79-EE98A4943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834635"/>
            <a:ext cx="7796464" cy="1222385"/>
          </a:xfrm>
        </p:spPr>
        <p:txBody>
          <a:bodyPr/>
          <a:lstStyle/>
          <a:p>
            <a:r>
              <a:rPr lang="en-US" dirty="0"/>
              <a:t>Technology Stack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67C004-8B72-C872-98FB-00A2A584D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05CE347-6E31-5D25-20EA-C711416CA634}"/>
              </a:ext>
            </a:extLst>
          </p:cNvPr>
          <p:cNvSpPr>
            <a:spLocks noGrp="1" noChangeArrowheads="1"/>
          </p:cNvSpPr>
          <p:nvPr>
            <p:ph sz="quarter" idx="4"/>
          </p:nvPr>
        </p:nvSpPr>
        <p:spPr bwMode="auto">
          <a:xfrm>
            <a:off x="914400" y="2767280"/>
            <a:ext cx="7053085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</a:rPr>
              <a:t>Frontend: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 Angular (Reactive Forms, Standalone Components)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</a:rPr>
              <a:t>Backend: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 Firebase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</a:rPr>
              <a:t>Firestore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 (Data Storage)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</a:rPr>
              <a:t>AI: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 Azure Computer Vision API (OCR for text extraction)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</a:rPr>
              <a:t>API Calls: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 Axios for HTTP requests</a:t>
            </a:r>
          </a:p>
        </p:txBody>
      </p:sp>
    </p:spTree>
    <p:extLst>
      <p:ext uri="{BB962C8B-B14F-4D97-AF65-F5344CB8AC3E}">
        <p14:creationId xmlns:p14="http://schemas.microsoft.com/office/powerpoint/2010/main" val="2468595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D55F2D4-C20E-BEBC-1CCF-4449B0456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73148"/>
            <a:ext cx="7631709" cy="1091627"/>
          </a:xfrm>
        </p:spPr>
        <p:txBody>
          <a:bodyPr/>
          <a:lstStyle/>
          <a:p>
            <a:r>
              <a:rPr lang="en-US" dirty="0"/>
              <a:t>How It Works</a:t>
            </a:r>
          </a:p>
        </p:txBody>
      </p:sp>
      <p:sp>
        <p:nvSpPr>
          <p:cNvPr id="14" name="Content Placeholder 7">
            <a:extLst>
              <a:ext uri="{FF2B5EF4-FFF2-40B4-BE49-F238E27FC236}">
                <a16:creationId xmlns:a16="http://schemas.microsoft.com/office/drawing/2014/main" id="{749C7CD1-A9AA-49E3-6734-AD9546F2DF5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400" y="1614895"/>
            <a:ext cx="5845629" cy="4143375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User selects the type of ID they are uploading</a:t>
            </a:r>
          </a:p>
          <a:p>
            <a:r>
              <a:rPr lang="en-US" dirty="0"/>
              <a:t>User uploads an image or any ID document (Driver’s License, Passport, etc.).</a:t>
            </a:r>
          </a:p>
          <a:p>
            <a:r>
              <a:rPr lang="en-US" dirty="0"/>
              <a:t>Azure Computer Vision extracts text using Optical Character Recognition (OCR).</a:t>
            </a:r>
          </a:p>
          <a:p>
            <a:r>
              <a:rPr lang="en-US" dirty="0"/>
              <a:t>Extracted data is mapped to form fields (e.g., Name, DOB, Address).</a:t>
            </a:r>
          </a:p>
          <a:p>
            <a:r>
              <a:rPr lang="en-US" dirty="0"/>
              <a:t>The user reviews and submits the form.</a:t>
            </a:r>
          </a:p>
          <a:p>
            <a:r>
              <a:rPr lang="en-US" dirty="0"/>
              <a:t>Data is stored in Firebase.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2CE1B8-1C92-D6D2-444B-652DB90E86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16196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136FCF6-982C-CC37-9625-3EBFC7E7D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563" y="1089213"/>
            <a:ext cx="9879437" cy="980844"/>
          </a:xfrm>
        </p:spPr>
        <p:txBody>
          <a:bodyPr/>
          <a:lstStyle/>
          <a:p>
            <a:r>
              <a:rPr lang="en-US" dirty="0"/>
              <a:t>1. Form Handling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DCC342-9FD1-7055-EAAC-008DC851B13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50564" y="2331958"/>
            <a:ext cx="3380665" cy="3056471"/>
          </a:xfrm>
        </p:spPr>
        <p:txBody>
          <a:bodyPr/>
          <a:lstStyle/>
          <a:p>
            <a:pPr rtl="0" fontAlgn="base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i="0" u="none" strike="noStrike" dirty="0">
                <a:effectLst/>
              </a:rPr>
              <a:t>The component initializes a Reactive Form (</a:t>
            </a:r>
            <a:r>
              <a:rPr lang="en-US" sz="1600" i="0" u="none" strike="noStrike" dirty="0" err="1">
                <a:effectLst/>
              </a:rPr>
              <a:t>FormGroup</a:t>
            </a:r>
            <a:r>
              <a:rPr lang="en-US" sz="1600" i="0" u="none" strike="noStrike" dirty="0">
                <a:effectLst/>
              </a:rPr>
              <a:t>) using </a:t>
            </a:r>
            <a:r>
              <a:rPr lang="en-US" sz="1600" i="0" u="none" strike="noStrike" dirty="0" err="1">
                <a:effectLst/>
              </a:rPr>
              <a:t>FormBuilder</a:t>
            </a:r>
            <a:r>
              <a:rPr lang="en-US" sz="1600" i="0" u="none" strike="noStrike" dirty="0">
                <a:effectLst/>
              </a:rPr>
              <a:t>.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600" i="0" u="none" strike="noStrike" dirty="0">
                <a:effectLst/>
              </a:rPr>
              <a:t>The form includes fields for:</a:t>
            </a:r>
          </a:p>
          <a:p>
            <a:pPr marL="742950" lvl="1" indent="-285750" rtl="0" fontAlgn="base">
              <a:buFont typeface="Arial" panose="020B0604020202020204" pitchFamily="34" charset="0"/>
              <a:buChar char="•"/>
            </a:pPr>
            <a:r>
              <a:rPr lang="en-US" sz="1600" i="0" u="none" strike="noStrike" dirty="0">
                <a:effectLst/>
              </a:rPr>
              <a:t>First Name, Last Name, Date of Birth, Address, City, Province</a:t>
            </a:r>
          </a:p>
          <a:p>
            <a:pPr marL="742950" lvl="1" indent="-285750" rtl="0" fontAlgn="base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600" i="0" u="none" strike="noStrike" dirty="0">
                <a:effectLst/>
              </a:rPr>
              <a:t>A radio button group for selecting the ID type.</a:t>
            </a:r>
          </a:p>
          <a:p>
            <a:pPr>
              <a:buNone/>
            </a:pPr>
            <a:r>
              <a:rPr lang="en-US" sz="1600" i="0" u="none" strike="noStrike" dirty="0">
                <a:effectLst/>
              </a:rPr>
              <a:t>Validation: Required fields are enforced using </a:t>
            </a:r>
            <a:r>
              <a:rPr lang="en-US" sz="1600" i="0" u="none" strike="noStrike" dirty="0" err="1">
                <a:effectLst/>
              </a:rPr>
              <a:t>Validators.required</a:t>
            </a:r>
            <a:r>
              <a:rPr lang="en-US" sz="1600" i="0" u="none" strike="noStrike" dirty="0">
                <a:effectLst/>
              </a:rPr>
              <a:t>.</a:t>
            </a:r>
            <a:br>
              <a:rPr lang="en-US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13EEC9-16E3-6C86-97D0-A7EC7EA09C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C2B9DB79-5E65-2C2B-12F3-2504F576145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7260773" y="799284"/>
            <a:ext cx="3506287" cy="5259431"/>
          </a:xfrm>
        </p:spPr>
      </p:pic>
    </p:spTree>
    <p:extLst>
      <p:ext uri="{BB962C8B-B14F-4D97-AF65-F5344CB8AC3E}">
        <p14:creationId xmlns:p14="http://schemas.microsoft.com/office/powerpoint/2010/main" val="39699961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8D62608-F5E4-7EC0-5EF0-4F988DDDE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564" y="308722"/>
            <a:ext cx="9875463" cy="999746"/>
          </a:xfrm>
        </p:spPr>
        <p:txBody>
          <a:bodyPr/>
          <a:lstStyle/>
          <a:p>
            <a:r>
              <a:rPr lang="en-US" sz="2400" dirty="0"/>
              <a:t>2. Image upload &amp; Computer Vision OCR API CALL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288BD9B8-D6A6-D55A-830D-4D3CC2DC39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96576" y="1710844"/>
            <a:ext cx="5227053" cy="3838281"/>
          </a:xfrm>
        </p:spPr>
        <p:txBody>
          <a:bodyPr>
            <a:noAutofit/>
          </a:bodyPr>
          <a:lstStyle/>
          <a:p>
            <a:pPr rtl="0"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400" b="0" i="0" u="none" strike="noStrike" dirty="0">
                <a:effectLst/>
              </a:rPr>
              <a:t>When a user uploads an image (JPEG, PNG, BMP, TIFF, or PDF), the </a:t>
            </a:r>
            <a:r>
              <a:rPr lang="en-US" sz="1400" b="0" i="0" u="none" strike="noStrike" dirty="0" err="1">
                <a:effectLst/>
              </a:rPr>
              <a:t>onFileUpload</a:t>
            </a:r>
            <a:r>
              <a:rPr lang="en-US" sz="1400" b="0" i="0" u="none" strike="noStrike" dirty="0">
                <a:effectLst/>
              </a:rPr>
              <a:t>() function:</a:t>
            </a:r>
            <a:endParaRPr lang="en-US" sz="1400" b="0" dirty="0">
              <a:effectLst/>
            </a:endParaRPr>
          </a:p>
          <a:p>
            <a:pPr rtl="0" fontAlgn="base">
              <a:lnSpc>
                <a:spcPct val="110000"/>
              </a:lnSpc>
              <a:spcBef>
                <a:spcPts val="1200"/>
              </a:spcBef>
              <a:buFont typeface="+mj-lt"/>
              <a:buAutoNum type="arabicPeriod"/>
            </a:pPr>
            <a:r>
              <a:rPr lang="en-US" sz="1400" b="0" i="0" u="none" strike="noStrike" dirty="0">
                <a:effectLst/>
              </a:rPr>
              <a:t>Extracts the file from the event.</a:t>
            </a:r>
          </a:p>
          <a:p>
            <a:pPr rtl="0" fontAlgn="base">
              <a:lnSpc>
                <a:spcPct val="110000"/>
              </a:lnSpc>
              <a:buFont typeface="+mj-lt"/>
              <a:buAutoNum type="arabicPeriod"/>
            </a:pPr>
            <a:r>
              <a:rPr lang="en-US" sz="1400" b="1" i="0" u="none" strike="noStrike" dirty="0">
                <a:effectLst/>
              </a:rPr>
              <a:t>Checks the file type</a:t>
            </a:r>
            <a:r>
              <a:rPr lang="en-US" sz="1400" b="0" i="0" u="none" strike="noStrike" dirty="0">
                <a:effectLst/>
              </a:rPr>
              <a:t> to ensure it's supported.</a:t>
            </a:r>
          </a:p>
          <a:p>
            <a:pPr rtl="0" fontAlgn="base">
              <a:lnSpc>
                <a:spcPct val="110000"/>
              </a:lnSpc>
              <a:buFont typeface="+mj-lt"/>
              <a:buAutoNum type="arabicPeriod"/>
            </a:pPr>
            <a:r>
              <a:rPr lang="en-US" sz="1400" b="0" i="0" u="none" strike="noStrike" dirty="0">
                <a:effectLst/>
              </a:rPr>
              <a:t>Sends the image to </a:t>
            </a:r>
            <a:r>
              <a:rPr lang="en-US" sz="1400" b="1" i="0" u="none" strike="noStrike" dirty="0">
                <a:effectLst/>
              </a:rPr>
              <a:t>Azure Computer Vision API</a:t>
            </a:r>
            <a:r>
              <a:rPr lang="en-US" sz="1400" b="0" i="0" u="none" strike="noStrike" dirty="0">
                <a:effectLst/>
              </a:rPr>
              <a:t> (vision/v3.2/read/analyze) via </a:t>
            </a:r>
            <a:r>
              <a:rPr lang="en-US" sz="1400" b="0" i="0" u="none" strike="noStrike" dirty="0" err="1">
                <a:effectLst/>
              </a:rPr>
              <a:t>axios.post</a:t>
            </a:r>
            <a:r>
              <a:rPr lang="en-US" sz="1400" b="0" i="0" u="none" strike="noStrike" dirty="0">
                <a:effectLst/>
              </a:rPr>
              <a:t>(), including:</a:t>
            </a:r>
          </a:p>
          <a:p>
            <a:pPr marL="742950" lvl="1" indent="-285750" rtl="0" fontAlgn="base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400" b="1" i="0" u="none" strike="noStrike" dirty="0">
                <a:effectLst/>
              </a:rPr>
              <a:t>Subscription Key</a:t>
            </a:r>
            <a:r>
              <a:rPr lang="en-US" sz="1400" b="0" i="0" u="none" strike="noStrike" dirty="0">
                <a:effectLst/>
              </a:rPr>
              <a:t> (</a:t>
            </a:r>
            <a:r>
              <a:rPr lang="en-US" sz="1400" b="0" i="0" u="none" strike="noStrike" dirty="0" err="1">
                <a:effectLst/>
              </a:rPr>
              <a:t>Ocp</a:t>
            </a:r>
            <a:r>
              <a:rPr lang="en-US" sz="1400" b="0" i="0" u="none" strike="noStrike" dirty="0">
                <a:effectLst/>
              </a:rPr>
              <a:t>-</a:t>
            </a:r>
            <a:r>
              <a:rPr lang="en-US" sz="1400" b="0" i="0" u="none" strike="noStrike" dirty="0" err="1">
                <a:effectLst/>
              </a:rPr>
              <a:t>Apim</a:t>
            </a:r>
            <a:r>
              <a:rPr lang="en-US" sz="1400" b="0" i="0" u="none" strike="noStrike" dirty="0">
                <a:effectLst/>
              </a:rPr>
              <a:t>-Subscription-Key)</a:t>
            </a:r>
          </a:p>
          <a:p>
            <a:pPr marL="742950" lvl="1" indent="-285750" rtl="0" fontAlgn="base">
              <a:lnSpc>
                <a:spcPct val="11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400" b="1" i="0" u="none" strike="noStrike" dirty="0">
                <a:effectLst/>
              </a:rPr>
              <a:t>Content-Type:</a:t>
            </a:r>
            <a:r>
              <a:rPr lang="en-US" sz="1400" b="0" i="0" u="none" strike="noStrike" dirty="0">
                <a:effectLst/>
              </a:rPr>
              <a:t> Based on the uploaded file type.</a:t>
            </a:r>
          </a:p>
          <a:p>
            <a:pPr>
              <a:lnSpc>
                <a:spcPct val="110000"/>
              </a:lnSpc>
              <a:buNone/>
            </a:pPr>
            <a:r>
              <a:rPr lang="en-US" sz="1400" b="0" i="0" u="none" strike="noStrike" dirty="0">
                <a:effectLst/>
              </a:rPr>
              <a:t>Receives a response containing an </a:t>
            </a:r>
            <a:r>
              <a:rPr lang="en-US" sz="1400" b="1" i="0" u="none" strike="noStrike" dirty="0">
                <a:effectLst/>
              </a:rPr>
              <a:t>operation-location URL</a:t>
            </a:r>
            <a:r>
              <a:rPr lang="en-US" sz="1400" b="0" i="0" u="none" strike="noStrike" dirty="0">
                <a:effectLst/>
              </a:rPr>
              <a:t> for retrieving the OCR results.</a:t>
            </a:r>
            <a:endParaRPr lang="en-US" sz="14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CFAD14-1AAA-8CDA-A49B-523FD6C66F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1BCBFB-EA76-EC9F-B5B0-6702FA7F0F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9074" y="5304932"/>
            <a:ext cx="3734429" cy="147082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70DBA2F-FDC1-D58B-4BBE-57FA54E388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3629" y="1628508"/>
            <a:ext cx="4545436" cy="4575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0216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756EBA-5FC8-0FEE-3FF9-15382EC16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9E07742-F9EA-8875-0032-988E010A5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564" y="361226"/>
            <a:ext cx="9875463" cy="999746"/>
          </a:xfrm>
        </p:spPr>
        <p:txBody>
          <a:bodyPr/>
          <a:lstStyle/>
          <a:p>
            <a:r>
              <a:rPr lang="en-US" sz="2000" dirty="0"/>
              <a:t>3. </a:t>
            </a:r>
            <a:r>
              <a:rPr lang="en-US" sz="2000" b="1" i="0" u="none" strike="noStrike" dirty="0">
                <a:effectLst/>
              </a:rPr>
              <a:t>Polling for OCR Results Asynchronously</a:t>
            </a:r>
            <a:endParaRPr lang="en-US" sz="2000" dirty="0"/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862C6F2E-80B8-7B6A-A628-C7544131DC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61242" y="2057020"/>
            <a:ext cx="5227053" cy="3838281"/>
          </a:xfrm>
        </p:spPr>
        <p:txBody>
          <a:bodyPr>
            <a:noAutofit/>
          </a:bodyPr>
          <a:lstStyle/>
          <a:p>
            <a:pPr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600" b="0" i="0" u="none" strike="noStrike" dirty="0">
                <a:effectLst/>
              </a:rPr>
              <a:t>Since OCR is not instantaneous, </a:t>
            </a:r>
            <a:r>
              <a:rPr lang="en-US" sz="1600" b="0" i="0" u="none" strike="noStrike" dirty="0" err="1">
                <a:effectLst/>
              </a:rPr>
              <a:t>pollReadResult</a:t>
            </a:r>
            <a:r>
              <a:rPr lang="en-US" sz="1600" b="0" i="0" u="none" strike="noStrike" dirty="0">
                <a:effectLst/>
              </a:rPr>
              <a:t>() continuously requests the operation-location until:</a:t>
            </a:r>
            <a:endParaRPr lang="en-US" sz="1600" b="0" dirty="0">
              <a:effectLst/>
            </a:endParaRPr>
          </a:p>
          <a:p>
            <a:pPr rtl="0" fontAlgn="base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effectLst/>
              </a:rPr>
              <a:t>The status is </a:t>
            </a:r>
            <a:r>
              <a:rPr lang="en-US" sz="1600" b="1" i="0" u="none" strike="noStrike" dirty="0">
                <a:effectLst/>
              </a:rPr>
              <a:t>"succeeded"</a:t>
            </a:r>
            <a:r>
              <a:rPr lang="en-US" sz="1600" b="0" i="0" u="none" strike="noStrike" dirty="0">
                <a:effectLst/>
              </a:rPr>
              <a:t> → meaning text has been extracted.</a:t>
            </a:r>
          </a:p>
          <a:p>
            <a:pPr rtl="0" fontAlgn="base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effectLst/>
              </a:rPr>
              <a:t>The status is </a:t>
            </a:r>
            <a:r>
              <a:rPr lang="en-US" sz="1600" b="1" i="0" u="none" strike="noStrike" dirty="0">
                <a:effectLst/>
              </a:rPr>
              <a:t>"failed"</a:t>
            </a:r>
            <a:r>
              <a:rPr lang="en-US" sz="1600" b="0" i="0" u="none" strike="noStrike" dirty="0">
                <a:effectLst/>
              </a:rPr>
              <a:t> → meaning OCR failed.</a:t>
            </a:r>
            <a:br>
              <a:rPr lang="en-US" sz="1600" b="0" i="0" u="none" strike="noStrike" dirty="0">
                <a:effectLst/>
              </a:rPr>
            </a:br>
            <a:endParaRPr lang="en-US" sz="1600" b="0" i="0" u="none" strike="noStrike" dirty="0">
              <a:effectLst/>
            </a:endParaRPr>
          </a:p>
          <a:p>
            <a:pPr>
              <a:buNone/>
            </a:pPr>
            <a:r>
              <a:rPr lang="en-US" sz="1600" b="0" i="0" u="none" strike="noStrike" dirty="0">
                <a:effectLst/>
              </a:rPr>
              <a:t>It waits </a:t>
            </a:r>
            <a:r>
              <a:rPr lang="en-US" sz="1600" b="1" i="0" u="none" strike="noStrike" dirty="0">
                <a:effectLst/>
              </a:rPr>
              <a:t>2 seconds</a:t>
            </a:r>
            <a:r>
              <a:rPr lang="en-US" sz="1600" b="0" i="0" u="none" strike="noStrike" dirty="0">
                <a:effectLst/>
              </a:rPr>
              <a:t> between API requests to reduce excessive calls.</a:t>
            </a:r>
            <a:endParaRPr lang="en-US" sz="1600" dirty="0"/>
          </a:p>
          <a:p>
            <a:pPr rtl="0"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lang="en-US" sz="14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F5B162C-CA87-5C9B-D012-0E1E999019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68FF83D-C471-90B4-0B26-2960F0DCEC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1051" y="2057020"/>
            <a:ext cx="4930567" cy="3939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535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3A9008-447E-8089-326F-B8431BFE0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4053D15-1A8D-642E-31F7-1B8734F44F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564" y="711098"/>
            <a:ext cx="9875463" cy="999746"/>
          </a:xfrm>
        </p:spPr>
        <p:txBody>
          <a:bodyPr/>
          <a:lstStyle/>
          <a:p>
            <a:r>
              <a:rPr lang="en-US" sz="2400" dirty="0"/>
              <a:t>4. </a:t>
            </a:r>
            <a:r>
              <a:rPr lang="en-US" sz="1800" b="1" i="0" u="none" strike="noStrike" dirty="0">
                <a:effectLst/>
              </a:rPr>
              <a:t>Extracting Text &amp; Auto-Filling the Form</a:t>
            </a:r>
            <a:br>
              <a:rPr lang="en-US" sz="1200" b="1" dirty="0">
                <a:effectLst/>
              </a:rPr>
            </a:br>
            <a:endParaRPr lang="en-US" sz="2400" dirty="0"/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E43372CC-2778-ED6E-0DAB-72D498C032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78184" y="1734798"/>
            <a:ext cx="4002736" cy="5579456"/>
          </a:xfrm>
        </p:spPr>
        <p:txBody>
          <a:bodyPr>
            <a:noAutofit/>
          </a:bodyPr>
          <a:lstStyle/>
          <a:p>
            <a:pPr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400" b="0" i="0" u="none" strike="noStrike" dirty="0">
                <a:effectLst/>
                <a:latin typeface="Arial" panose="020B0604020202020204" pitchFamily="34" charset="0"/>
              </a:rPr>
              <a:t>Once OCR succeeds, </a:t>
            </a:r>
            <a:r>
              <a:rPr lang="en-US" sz="1400" b="0" i="0" u="none" strike="noStrike" dirty="0" err="1">
                <a:effectLst/>
                <a:latin typeface="Roboto Mono" panose="00000009000000000000" pitchFamily="49" charset="0"/>
              </a:rPr>
              <a:t>parseExtractedText</a:t>
            </a:r>
            <a:r>
              <a:rPr lang="en-US" sz="1400" b="0" i="0" u="none" strike="noStrike" dirty="0">
                <a:effectLst/>
                <a:latin typeface="Roboto Mono" panose="00000009000000000000" pitchFamily="49" charset="0"/>
              </a:rPr>
              <a:t>()</a:t>
            </a:r>
            <a:r>
              <a:rPr lang="en-US" sz="1400" b="0" i="0" u="none" strike="noStrike" dirty="0">
                <a:effectLst/>
                <a:latin typeface="Arial" panose="020B0604020202020204" pitchFamily="34" charset="0"/>
              </a:rPr>
              <a:t>:</a:t>
            </a:r>
            <a:endParaRPr lang="en-US" sz="1400" b="0" dirty="0">
              <a:effectLst/>
            </a:endParaRPr>
          </a:p>
          <a:p>
            <a:pPr rtl="0" fontAlgn="base">
              <a:spcBef>
                <a:spcPts val="1200"/>
              </a:spcBef>
              <a:buFont typeface="+mj-lt"/>
              <a:buAutoNum type="arabicPeriod"/>
            </a:pPr>
            <a:r>
              <a:rPr lang="en-US" sz="1400" b="1" i="0" u="none" strike="noStrike" dirty="0">
                <a:effectLst/>
                <a:latin typeface="Arial" panose="020B0604020202020204" pitchFamily="34" charset="0"/>
              </a:rPr>
              <a:t>Flattens </a:t>
            </a:r>
            <a:r>
              <a:rPr lang="en-US" sz="1400" i="0" u="none" strike="noStrike" dirty="0">
                <a:effectLst/>
                <a:latin typeface="Arial" panose="020B0604020202020204" pitchFamily="34" charset="0"/>
              </a:rPr>
              <a:t>the detected text lines into an array.</a:t>
            </a:r>
          </a:p>
          <a:p>
            <a:pPr rtl="0" fontAlgn="base">
              <a:spcBef>
                <a:spcPts val="1200"/>
              </a:spcBef>
              <a:buFont typeface="+mj-lt"/>
              <a:buAutoNum type="arabicPeriod"/>
            </a:pPr>
            <a:r>
              <a:rPr lang="en-US" sz="1400" b="1" i="0" u="none" strike="noStrike" dirty="0">
                <a:effectLst/>
                <a:latin typeface="Arial" panose="020B0604020202020204" pitchFamily="34" charset="0"/>
              </a:rPr>
              <a:t>Matches keywords</a:t>
            </a:r>
            <a:r>
              <a:rPr lang="en-US" sz="1400" i="0" u="none" strike="noStrike" dirty="0">
                <a:effectLst/>
                <a:latin typeface="Arial" panose="020B0604020202020204" pitchFamily="34" charset="0"/>
              </a:rPr>
              <a:t> (e.g., "first name", "DOB", "address") to form fields using a </a:t>
            </a:r>
            <a:r>
              <a:rPr lang="en-US" sz="1400" b="1" i="0" u="none" strike="noStrike" dirty="0">
                <a:effectLst/>
                <a:latin typeface="Arial" panose="020B0604020202020204" pitchFamily="34" charset="0"/>
              </a:rPr>
              <a:t>keyword-matching algorithm</a:t>
            </a:r>
            <a:r>
              <a:rPr lang="en-US" sz="1400" i="0" u="none" strike="noStrike" dirty="0">
                <a:effectLst/>
                <a:latin typeface="Arial" panose="020B0604020202020204" pitchFamily="34" charset="0"/>
              </a:rPr>
              <a:t>.</a:t>
            </a:r>
          </a:p>
          <a:p>
            <a:pPr rtl="0" fontAlgn="base">
              <a:spcAft>
                <a:spcPts val="1200"/>
              </a:spcAft>
              <a:buFont typeface="+mj-lt"/>
              <a:buAutoNum type="arabicPeriod"/>
            </a:pPr>
            <a:r>
              <a:rPr lang="en-US" sz="1400" i="0" u="none" strike="noStrike" dirty="0">
                <a:effectLst/>
                <a:latin typeface="Arial" panose="020B0604020202020204" pitchFamily="34" charset="0"/>
              </a:rPr>
              <a:t>Uses </a:t>
            </a:r>
            <a:r>
              <a:rPr lang="en-US" sz="1400" i="0" u="none" strike="noStrike" dirty="0" err="1">
                <a:effectLst/>
                <a:latin typeface="Roboto Mono" panose="00000009000000000000" pitchFamily="49" charset="0"/>
              </a:rPr>
              <a:t>this.form.patchValue</a:t>
            </a:r>
            <a:r>
              <a:rPr lang="en-US" sz="1400" i="0" u="none" strike="noStrike" dirty="0">
                <a:effectLst/>
                <a:latin typeface="Roboto Mono" panose="00000009000000000000" pitchFamily="49" charset="0"/>
              </a:rPr>
              <a:t>()</a:t>
            </a:r>
            <a:r>
              <a:rPr lang="en-US" sz="1400" i="0" u="none" strike="noStrike" dirty="0">
                <a:effectLst/>
                <a:latin typeface="Arial" panose="020B0604020202020204" pitchFamily="34" charset="0"/>
              </a:rPr>
              <a:t> to </a:t>
            </a:r>
            <a:r>
              <a:rPr lang="en-US" sz="1400" b="1" i="0" u="none" strike="noStrike" dirty="0">
                <a:effectLst/>
                <a:latin typeface="Arial" panose="020B0604020202020204" pitchFamily="34" charset="0"/>
              </a:rPr>
              <a:t>auto-fill </a:t>
            </a:r>
            <a:r>
              <a:rPr lang="en-US" sz="1400" i="0" u="none" strike="noStrike" dirty="0">
                <a:effectLst/>
                <a:latin typeface="Arial" panose="020B0604020202020204" pitchFamily="34" charset="0"/>
              </a:rPr>
              <a:t>the form fields.</a:t>
            </a:r>
          </a:p>
          <a:p>
            <a:pPr>
              <a:buNone/>
            </a:pPr>
            <a:br>
              <a:rPr lang="en-US" sz="1400" b="0" dirty="0">
                <a:effectLst/>
              </a:rPr>
            </a:br>
            <a:r>
              <a:rPr lang="en-US" sz="1400" b="1" i="0" u="none" strike="noStrike" dirty="0">
                <a:effectLst/>
                <a:latin typeface="Arial" panose="020B0604020202020204" pitchFamily="34" charset="0"/>
              </a:rPr>
              <a:t>Date Formatting:</a:t>
            </a:r>
            <a:r>
              <a:rPr lang="en-US" sz="1400" b="0" i="0" u="none" strike="noStrike" dirty="0">
                <a:effectLst/>
                <a:latin typeface="Arial" panose="020B0604020202020204" pitchFamily="34" charset="0"/>
              </a:rPr>
              <a:t> Ensures DOB is converted to </a:t>
            </a:r>
            <a:r>
              <a:rPr lang="en-US" sz="1400" b="0" i="0" u="none" strike="noStrike" dirty="0">
                <a:effectLst/>
                <a:latin typeface="Roboto Mono" panose="00000009000000000000" pitchFamily="49" charset="0"/>
              </a:rPr>
              <a:t>YYYY-MM-DD</a:t>
            </a:r>
            <a:r>
              <a:rPr lang="en-US" sz="1400" b="0" i="0" u="none" strike="noStrike" dirty="0">
                <a:effectLst/>
                <a:latin typeface="Arial" panose="020B0604020202020204" pitchFamily="34" charset="0"/>
              </a:rPr>
              <a:t>.</a:t>
            </a:r>
            <a:endParaRPr lang="en-US" sz="14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13099DB-84A8-7C22-9826-0594F74D0B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0D35452-1C1E-302C-1017-561AFB5850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0413" y="1734798"/>
            <a:ext cx="6808572" cy="409229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F006553-FB27-2A6F-6556-4226C865D1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184" y="6064735"/>
            <a:ext cx="11137900" cy="310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98248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AE3AC-BD1F-9C27-8BEC-34266CF6A1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3C68B99-4D3F-CD60-DACB-497864A50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564" y="1057274"/>
            <a:ext cx="9875463" cy="999746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500"/>
              <a:t>4. </a:t>
            </a:r>
            <a:r>
              <a:rPr lang="en-US" sz="2500" b="1" i="0" u="none" strike="noStrike">
                <a:effectLst/>
              </a:rPr>
              <a:t>Extracting Text &amp; Auto-Filling the Form</a:t>
            </a:r>
            <a:br>
              <a:rPr lang="en-US" sz="2500" b="1">
                <a:effectLst/>
              </a:rPr>
            </a:br>
            <a:endParaRPr lang="en-US" sz="25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BC0B59-6F3B-0A98-CC9B-A4C30B5B54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1000" y="2303028"/>
            <a:ext cx="5128275" cy="3961593"/>
          </a:xfrm>
          <a:prstGeom prst="rect">
            <a:avLst/>
          </a:prstGeom>
          <a:noFill/>
        </p:spPr>
      </p:pic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48A980F7-B6D7-1577-E1C6-249CFF407FF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7940842" y="2303028"/>
            <a:ext cx="3485184" cy="3961593"/>
          </a:xfrm>
        </p:spPr>
        <p:txBody>
          <a:bodyPr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1" i="0" u="none" strike="noStrike" cap="none" normalizeH="0" baseline="0" err="1">
                <a:ln>
                  <a:noFill/>
                </a:ln>
                <a:effectLst/>
              </a:rPr>
              <a:t>extractField</a:t>
            </a: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</a:rPr>
              <a:t>() method:</a:t>
            </a:r>
            <a:endParaRPr kumimoji="0" lang="en-US" altLang="en-US" b="0" i="0" u="none" strike="noStrike" cap="none" normalizeH="0" baseline="0">
              <a:ln>
                <a:noFill/>
              </a:ln>
              <a:effectLst/>
            </a:endParaRP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Scans OCR results for specific keywords.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Finds a matching line and splits it at a colon (:) to extract the value.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Returns the value or an empty string if no match is found.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1" i="0" u="none" strike="noStrike" cap="none" normalizeH="0" baseline="0" err="1">
                <a:ln>
                  <a:noFill/>
                </a:ln>
                <a:effectLst/>
              </a:rPr>
              <a:t>formatDate</a:t>
            </a: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</a:rPr>
              <a:t>() method:</a:t>
            </a:r>
            <a:endParaRPr kumimoji="0" lang="en-US" altLang="en-US" b="0" i="0" u="none" strike="noStrike" cap="none" normalizeH="0" baseline="0">
              <a:ln>
                <a:noFill/>
              </a:ln>
              <a:effectLst/>
            </a:endParaRP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Converts date string into YYYY-MM-DD format.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Uses JavaScript Date object to parse and format the date.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Returns the formatted date or the original string if invalid.</a:t>
            </a:r>
          </a:p>
          <a:p>
            <a:pPr rtl="0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B232371-4936-F3DF-A61B-E2AC2E89FC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8482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167022-790C-FE14-7998-D68C8740E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13FC798-C8ED-8ACF-F7A1-F4B1F995C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2986" y="699706"/>
            <a:ext cx="9875463" cy="999746"/>
          </a:xfrm>
        </p:spPr>
        <p:txBody>
          <a:bodyPr/>
          <a:lstStyle/>
          <a:p>
            <a:r>
              <a:rPr lang="en-CA" sz="2000">
                <a:latin typeface="Arial" panose="020B0604020202020204" pitchFamily="34" charset="0"/>
              </a:rPr>
              <a:t>5. </a:t>
            </a:r>
            <a:r>
              <a:rPr lang="en-CA" sz="2000" b="1" i="0" u="none" strike="noStrike">
                <a:effectLst/>
                <a:latin typeface="Arial" panose="020B0604020202020204" pitchFamily="34" charset="0"/>
              </a:rPr>
              <a:t>Submitting Data to Firebase Firestore</a:t>
            </a:r>
            <a:br>
              <a:rPr lang="en-CA" sz="800" b="1">
                <a:effectLst/>
              </a:rPr>
            </a:br>
            <a:br>
              <a:rPr lang="en-US" sz="1200" b="1">
                <a:effectLst/>
              </a:rPr>
            </a:br>
            <a:endParaRPr lang="en-US" sz="2400" dirty="0"/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25952644-D858-4DF0-95F6-022D30B5F9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31766" y="1941959"/>
            <a:ext cx="4002736" cy="5579456"/>
          </a:xfrm>
        </p:spPr>
        <p:txBody>
          <a:bodyPr>
            <a:noAutofit/>
          </a:bodyPr>
          <a:lstStyle/>
          <a:p>
            <a:pPr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CA" sz="1400" b="0" i="0" u="none" strike="noStrike" dirty="0">
                <a:effectLst/>
              </a:rPr>
              <a:t>When the user submits the form, </a:t>
            </a:r>
            <a:r>
              <a:rPr lang="en-CA" sz="1400" b="0" i="0" u="none" strike="noStrike" dirty="0" err="1">
                <a:effectLst/>
              </a:rPr>
              <a:t>onSubmit</a:t>
            </a:r>
            <a:r>
              <a:rPr lang="en-CA" sz="1400" b="0" i="0" u="none" strike="noStrike" dirty="0">
                <a:effectLst/>
              </a:rPr>
              <a:t>():</a:t>
            </a:r>
            <a:endParaRPr lang="en-CA" sz="1400" b="0" dirty="0">
              <a:effectLst/>
            </a:endParaRPr>
          </a:p>
          <a:p>
            <a:pPr rtl="0" fontAlgn="base">
              <a:spcBef>
                <a:spcPts val="1200"/>
              </a:spcBef>
              <a:buFont typeface="+mj-lt"/>
              <a:buAutoNum type="arabicPeriod"/>
            </a:pPr>
            <a:r>
              <a:rPr lang="en-CA" sz="1400" b="1" i="0" u="none" strike="noStrike" dirty="0">
                <a:effectLst/>
              </a:rPr>
              <a:t>Validates the form</a:t>
            </a:r>
            <a:r>
              <a:rPr lang="en-CA" sz="1400" b="0" i="0" u="none" strike="noStrike" dirty="0">
                <a:effectLst/>
              </a:rPr>
              <a:t> (if (</a:t>
            </a:r>
            <a:r>
              <a:rPr lang="en-CA" sz="1400" b="0" i="0" u="none" strike="noStrike" dirty="0" err="1">
                <a:effectLst/>
              </a:rPr>
              <a:t>this.form.valid</a:t>
            </a:r>
            <a:r>
              <a:rPr lang="en-CA" sz="1400" b="0" i="0" u="none" strike="noStrike" dirty="0">
                <a:effectLst/>
              </a:rPr>
              <a:t>) { ... }).</a:t>
            </a:r>
          </a:p>
          <a:p>
            <a:pPr rtl="0" fontAlgn="base">
              <a:buFont typeface="+mj-lt"/>
              <a:buAutoNum type="arabicPeriod"/>
            </a:pPr>
            <a:r>
              <a:rPr lang="en-CA" sz="1400" b="0" i="0" u="none" strike="noStrike" dirty="0">
                <a:effectLst/>
              </a:rPr>
              <a:t>Saves the data to </a:t>
            </a:r>
            <a:r>
              <a:rPr lang="en-CA" sz="1400" b="1" i="0" u="none" strike="noStrike" dirty="0">
                <a:effectLst/>
              </a:rPr>
              <a:t>Firebase </a:t>
            </a:r>
            <a:r>
              <a:rPr lang="en-CA" sz="1400" b="1" i="0" u="none" strike="noStrike" dirty="0" err="1">
                <a:effectLst/>
              </a:rPr>
              <a:t>Firestore</a:t>
            </a:r>
            <a:r>
              <a:rPr lang="en-CA" sz="1400" b="0" i="0" u="none" strike="noStrike" dirty="0">
                <a:effectLst/>
              </a:rPr>
              <a:t>:</a:t>
            </a:r>
          </a:p>
          <a:p>
            <a:pPr marL="742950" lvl="1" indent="-285750" rtl="0" fontAlgn="base">
              <a:buFont typeface="Arial" panose="020B0604020202020204" pitchFamily="34" charset="0"/>
              <a:buChar char="•"/>
            </a:pPr>
            <a:r>
              <a:rPr lang="en-CA" sz="1400" b="0" i="0" u="none" strike="noStrike" dirty="0">
                <a:effectLst/>
              </a:rPr>
              <a:t>Creates a </a:t>
            </a:r>
            <a:r>
              <a:rPr lang="en-CA" sz="1400" b="0" i="0" u="none" strike="noStrike" dirty="0" err="1">
                <a:effectLst/>
              </a:rPr>
              <a:t>submittedForms</a:t>
            </a:r>
            <a:r>
              <a:rPr lang="en-CA" sz="1400" b="0" i="0" u="none" strike="noStrike" dirty="0">
                <a:effectLst/>
              </a:rPr>
              <a:t> collection.</a:t>
            </a:r>
          </a:p>
          <a:p>
            <a:pPr marL="742950" lvl="1" indent="-285750" rtl="0" fontAlgn="base">
              <a:buFont typeface="Arial" panose="020B0604020202020204" pitchFamily="34" charset="0"/>
              <a:buChar char="•"/>
            </a:pPr>
            <a:r>
              <a:rPr lang="en-CA" sz="1400" b="0" i="0" u="none" strike="noStrike" dirty="0">
                <a:effectLst/>
              </a:rPr>
              <a:t>Uses </a:t>
            </a:r>
            <a:r>
              <a:rPr lang="en-CA" sz="1400" b="0" i="0" u="none" strike="noStrike" dirty="0" err="1">
                <a:effectLst/>
              </a:rPr>
              <a:t>addDoc</a:t>
            </a:r>
            <a:r>
              <a:rPr lang="en-CA" sz="1400" b="0" i="0" u="none" strike="noStrike" dirty="0">
                <a:effectLst/>
              </a:rPr>
              <a:t>(</a:t>
            </a:r>
            <a:r>
              <a:rPr lang="en-CA" sz="1400" b="0" i="0" u="none" strike="noStrike" dirty="0" err="1">
                <a:effectLst/>
              </a:rPr>
              <a:t>formCollection</a:t>
            </a:r>
            <a:r>
              <a:rPr lang="en-CA" sz="1400" b="0" i="0" u="none" strike="noStrike" dirty="0">
                <a:effectLst/>
              </a:rPr>
              <a:t>, </a:t>
            </a:r>
            <a:r>
              <a:rPr lang="en-CA" sz="1400" b="0" i="0" u="none" strike="noStrike" dirty="0" err="1">
                <a:effectLst/>
              </a:rPr>
              <a:t>formData</a:t>
            </a:r>
            <a:r>
              <a:rPr lang="en-CA" sz="1400" b="0" i="0" u="none" strike="noStrike" dirty="0">
                <a:effectLst/>
              </a:rPr>
              <a:t>) to insert data.</a:t>
            </a:r>
          </a:p>
          <a:p>
            <a:pPr rtl="0" fontAlgn="base">
              <a:buFont typeface="+mj-lt"/>
              <a:buAutoNum type="arabicPeriod"/>
            </a:pPr>
            <a:r>
              <a:rPr lang="en-CA" sz="1400" b="0" i="0" u="none" strike="noStrike" dirty="0">
                <a:effectLst/>
              </a:rPr>
              <a:t>Displays a </a:t>
            </a:r>
            <a:r>
              <a:rPr lang="en-CA" sz="1400" b="1" i="0" u="none" strike="noStrike" dirty="0">
                <a:effectLst/>
              </a:rPr>
              <a:t>confirmation alert</a:t>
            </a:r>
            <a:r>
              <a:rPr lang="en-CA" sz="1400" b="0" i="0" u="none" strike="noStrike" dirty="0">
                <a:effectLst/>
              </a:rPr>
              <a:t> with the extracted user name.</a:t>
            </a:r>
          </a:p>
          <a:p>
            <a:pPr rtl="0" fontAlgn="base">
              <a:spcAft>
                <a:spcPts val="1200"/>
              </a:spcAft>
              <a:buFont typeface="+mj-lt"/>
              <a:buAutoNum type="arabicPeriod"/>
            </a:pPr>
            <a:r>
              <a:rPr lang="en-CA" sz="1400" b="0" i="0" u="none" strike="noStrike" dirty="0">
                <a:effectLst/>
              </a:rPr>
              <a:t>Resets the form after submission.</a:t>
            </a:r>
            <a:br>
              <a:rPr lang="en-CA" sz="1600" b="0" i="0" u="none" strike="noStrike" dirty="0">
                <a:effectLst/>
              </a:rPr>
            </a:br>
            <a:br>
              <a:rPr lang="en-CA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endParaRPr lang="en-CA" sz="16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rtl="0">
              <a:spcBef>
                <a:spcPts val="1200"/>
              </a:spcBef>
              <a:spcAft>
                <a:spcPts val="1200"/>
              </a:spcAft>
              <a:buNone/>
            </a:pPr>
            <a:endParaRPr lang="en-US" sz="14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FCEB888-6400-86BF-CC75-66DA5875D5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66E354-6789-A8A9-CB8B-055E4E8653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4502" y="1842338"/>
            <a:ext cx="7251552" cy="3719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55788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C8D77C-774E-BB5C-9870-E14570C41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3F5EB-7B68-AD9B-D6B1-FF11E6DB0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834635"/>
            <a:ext cx="7796464" cy="1222385"/>
          </a:xfrm>
        </p:spPr>
        <p:txBody>
          <a:bodyPr/>
          <a:lstStyle/>
          <a:p>
            <a:r>
              <a:rPr lang="en-US" dirty="0"/>
              <a:t>Challenges &amp; Solutions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3545729-E9D7-4692-FC9C-6A8E73C6C0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810B4C9-01FF-F1E1-81D3-9E0A8FC914F3}"/>
              </a:ext>
            </a:extLst>
          </p:cNvPr>
          <p:cNvSpPr>
            <a:spLocks noGrp="1" noChangeArrowheads="1"/>
          </p:cNvSpPr>
          <p:nvPr>
            <p:ph sz="quarter" idx="4"/>
          </p:nvPr>
        </p:nvSpPr>
        <p:spPr bwMode="auto">
          <a:xfrm>
            <a:off x="647701" y="2131209"/>
            <a:ext cx="7924800" cy="1451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None/>
            </a:pPr>
            <a:r>
              <a:rPr lang="en-US" sz="2000" b="1" dirty="0"/>
              <a:t>Challenge:</a:t>
            </a:r>
            <a:r>
              <a:rPr lang="en-US" sz="2000" dirty="0"/>
              <a:t> OCR accuracy for different ID formats specifically for date format</a:t>
            </a:r>
          </a:p>
          <a:p>
            <a:pPr marL="626364" lvl="1" indent="-342900"/>
            <a:r>
              <a:rPr lang="en-US" sz="2000" b="1" dirty="0"/>
              <a:t>Solution:</a:t>
            </a:r>
            <a:r>
              <a:rPr lang="en-US" sz="2000" dirty="0"/>
              <a:t> Using keyword-based extraction and formatting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8381874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37B0D3-4A8E-380E-2B54-77DC7150F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18450-038B-3297-1557-CDEECBBD7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834635"/>
            <a:ext cx="7796464" cy="1222385"/>
          </a:xfrm>
        </p:spPr>
        <p:txBody>
          <a:bodyPr/>
          <a:lstStyle/>
          <a:p>
            <a:r>
              <a:rPr lang="en-CA" dirty="0"/>
              <a:t>Future Improvements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427ACC-DECC-F77C-17BB-7578D581E1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7A94760-CE9B-56AB-E4C0-A8FCE6E57F88}"/>
              </a:ext>
            </a:extLst>
          </p:cNvPr>
          <p:cNvSpPr>
            <a:spLocks noGrp="1" noChangeArrowheads="1"/>
          </p:cNvSpPr>
          <p:nvPr>
            <p:ph sz="quarter" idx="4"/>
          </p:nvPr>
        </p:nvSpPr>
        <p:spPr bwMode="auto">
          <a:xfrm>
            <a:off x="647700" y="2060461"/>
            <a:ext cx="7796464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</a:rPr>
              <a:t>Enhance OCR accuracy with AI model training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</a:rPr>
              <a:t>Support additional ID formats globally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</a:rPr>
              <a:t>Improve UI for better user experience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</a:rPr>
              <a:t>Integrate multi-language support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/>
              <a:t> Allow user to view id document in UI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0245297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1" y="849782"/>
            <a:ext cx="5715000" cy="2727709"/>
          </a:xfrm>
        </p:spPr>
        <p:txBody>
          <a:bodyPr/>
          <a:lstStyle/>
          <a:p>
            <a:r>
              <a:rPr lang="en-US" dirty="0"/>
              <a:t>Thank </a:t>
            </a:r>
            <a:br>
              <a:rPr lang="en-US" dirty="0"/>
            </a:br>
            <a:r>
              <a:rPr lang="en-US" dirty="0"/>
              <a:t>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B5CEF2-E667-BBB5-2EA6-C06F93B6DE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1" y="3751782"/>
            <a:ext cx="5715000" cy="2234642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A719FA4-954C-4FA8-82CB-206659C3B826}">
  <ds:schemaRefs>
    <ds:schemaRef ds:uri="http://www.w3.org/XML/1998/namespace"/>
    <ds:schemaRef ds:uri="230e9df3-be65-4c73-a93b-d1236ebd677e"/>
    <ds:schemaRef ds:uri="http://purl.org/dc/elements/1.1/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http://purl.org/dc/terms/"/>
    <ds:schemaRef ds:uri="http://schemas.microsoft.com/office/2006/metadata/properties"/>
    <ds:schemaRef ds:uri="16c05727-aa75-4e4a-9b5f-8a80a1165891"/>
    <ds:schemaRef ds:uri="71af3243-3dd4-4a8d-8c0d-dd76da1f02a5"/>
    <ds:schemaRef ds:uri="http://schemas.microsoft.com/sharepoint/v3"/>
  </ds:schemaRefs>
</ds:datastoreItem>
</file>

<file path=customXml/itemProps2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{76E9E6F0-100A-4937-90B0-851063DD5CB8}tf78438558_win32</Template>
  <TotalTime>1459</TotalTime>
  <Words>832</Words>
  <Application>Microsoft Office PowerPoint</Application>
  <PresentationFormat>Widescreen</PresentationFormat>
  <Paragraphs>88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Abadi</vt:lpstr>
      <vt:lpstr>Arial</vt:lpstr>
      <vt:lpstr>Arial Black</vt:lpstr>
      <vt:lpstr>Calibri</vt:lpstr>
      <vt:lpstr>Roboto Mono</vt:lpstr>
      <vt:lpstr>Sabon Next LT</vt:lpstr>
      <vt:lpstr>Custom</vt:lpstr>
      <vt:lpstr>AI-Powered Form Automation Using OCR</vt:lpstr>
      <vt:lpstr>Project Overview</vt:lpstr>
      <vt:lpstr>Technology Stack</vt:lpstr>
      <vt:lpstr>How It Works</vt:lpstr>
      <vt:lpstr>1. Form Handling </vt:lpstr>
      <vt:lpstr>2. Image upload &amp; Computer Vision OCR API CALL</vt:lpstr>
      <vt:lpstr>3. Polling for OCR Results Asynchronously</vt:lpstr>
      <vt:lpstr>4. Extracting Text &amp; Auto-Filling the Form </vt:lpstr>
      <vt:lpstr>4. Extracting Text &amp; Auto-Filling the Form </vt:lpstr>
      <vt:lpstr>5. Submitting Data to Firebase Firestore  </vt:lpstr>
      <vt:lpstr>Challenges &amp; Solutions</vt:lpstr>
      <vt:lpstr>Future Improvements</vt:lpstr>
      <vt:lpstr>Thank 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Caelan Mason</dc:creator>
  <cp:lastModifiedBy>Caelan Mason</cp:lastModifiedBy>
  <cp:revision>2</cp:revision>
  <dcterms:created xsi:type="dcterms:W3CDTF">2025-03-27T21:54:24Z</dcterms:created>
  <dcterms:modified xsi:type="dcterms:W3CDTF">2025-03-28T22:14:08Z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